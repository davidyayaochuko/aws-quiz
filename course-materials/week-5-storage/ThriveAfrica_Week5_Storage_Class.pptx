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91440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9900"/>
                </a:solidFill>
                <a:latin typeface="Aptos"/>
              </a:rPr>
              <a:t>AWS CLOUD PRACTITIONER •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0876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300" b="1">
                <a:solidFill>
                  <a:srgbClr val="F9FBFD"/>
                </a:solidFill>
                <a:latin typeface="Aptos"/>
              </a:rPr>
              <a:t>Storage on 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AC8D6"/>
                </a:solidFill>
                <a:latin typeface="Aptos"/>
              </a:rPr>
              <a:t>S3 • EBS • EFS • FSx • Gateway • Backup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1188720"/>
            <a:ext cx="2057400" cy="205740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32520" y="1691640"/>
            <a:ext cx="2057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900" b="1">
                <a:solidFill>
                  <a:srgbClr val="0C1A2B"/>
                </a:solidFill>
                <a:latin typeface="Apto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807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9FBFD"/>
                </a:solidFill>
                <a:latin typeface="Aptos"/>
              </a:rPr>
              <a:t>ThriveAfrica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WEEK 5 •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C1A2B"/>
                </a:solidFill>
                <a:latin typeface="Aptos"/>
              </a:rPr>
              <a:t>Today’s destination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87888"/>
                </a:solidFill>
                <a:latin typeface="Aptos"/>
              </a:rPr>
              <a:t>Choose the right storage service from a workload scenario.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7888"/>
                </a:solidFill>
                <a:latin typeface="Aptos"/>
              </a:rPr>
              <a:t>ThriveAfrica • AWS Cloud Practitioner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87888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2514600" cy="246888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82296" cy="246888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1A2B"/>
                </a:solidFill>
                <a:latin typeface="Aptos"/>
              </a:rPr>
              <a:t>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43200"/>
            <a:ext cx="2103120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87888"/>
                </a:solidFill>
                <a:latin typeface="Aptos"/>
              </a:rPr>
              <a:t>Separate block, file, and object 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103120"/>
            <a:ext cx="2514600" cy="246888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2103120"/>
            <a:ext cx="82296" cy="2468880"/>
          </a:xfrm>
          <a:prstGeom prst="rect">
            <a:avLst/>
          </a:prstGeom>
          <a:solidFill>
            <a:srgbClr val="409BF5"/>
          </a:solidFill>
          <a:ln>
            <a:solidFill>
              <a:srgbClr val="40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2286000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1A2B"/>
                </a:solidFill>
                <a:latin typeface="Aptos"/>
              </a:rPr>
              <a:t>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743200"/>
            <a:ext cx="2103120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87888"/>
                </a:solidFill>
                <a:latin typeface="Aptos"/>
              </a:rPr>
              <a:t>Buckets, classes, lifecycle, protection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103120"/>
            <a:ext cx="2514600" cy="246888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103120"/>
            <a:ext cx="82296" cy="2468880"/>
          </a:xfrm>
          <a:prstGeom prst="rect">
            <a:avLst/>
          </a:prstGeom>
          <a:solidFill>
            <a:srgbClr val="42C17B"/>
          </a:solidFill>
          <a:ln>
            <a:solidFill>
              <a:srgbClr val="42C1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286000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1A2B"/>
                </a:solidFill>
                <a:latin typeface="Aptos"/>
              </a:rPr>
              <a:t>BLOCK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743200"/>
            <a:ext cx="2103120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87888"/>
                </a:solidFill>
                <a:latin typeface="Aptos"/>
              </a:rPr>
              <a:t>EBS volumes, snapshots, instance store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103120"/>
            <a:ext cx="2514600" cy="246888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2103120"/>
            <a:ext cx="82296" cy="2468880"/>
          </a:xfrm>
          <a:prstGeom prst="rect">
            <a:avLst/>
          </a:prstGeom>
          <a:solidFill>
            <a:srgbClr val="A16CF4"/>
          </a:solidFill>
          <a:ln>
            <a:solidFill>
              <a:srgbClr val="A16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2286000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1A2B"/>
                </a:solidFill>
                <a:latin typeface="Aptos"/>
              </a:rPr>
              <a:t>HYBRID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743200"/>
            <a:ext cx="2103120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87888"/>
                </a:solidFill>
                <a:latin typeface="Aptos"/>
              </a:rPr>
              <a:t>EFS, FSx, Gateway, Backup, DRS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0749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C1A2B"/>
                </a:solidFill>
                <a:latin typeface="Aptos"/>
              </a:rPr>
              <a:t>Goal: identify the constraint → eliminate poor fits → select the best storage option.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WEEK 5 •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C1A2B"/>
                </a:solidFill>
                <a:latin typeface="Aptos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87888"/>
                </a:solidFill>
                <a:latin typeface="Aptos"/>
              </a:rPr>
              <a:t>Name the model that fits each workload.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7888"/>
                </a:solidFill>
                <a:latin typeface="Aptos"/>
              </a:rPr>
              <a:t>ThriveAfrica • AWS Cloud Practitioner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87888"/>
                </a:solidFill>
                <a:latin typeface="Apto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69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C1A2B"/>
                </a:solidFill>
                <a:latin typeface="Aptos"/>
              </a:rPr>
              <a:t>A company has website images, a database disk, and a shared Linux folder. Same storage type?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80360"/>
            <a:ext cx="5166360" cy="82296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880360"/>
            <a:ext cx="621792" cy="822960"/>
          </a:xfrm>
          <a:prstGeom prst="roundRect">
            <a:avLst/>
          </a:prstGeom>
          <a:solidFill>
            <a:srgbClr val="409BF5"/>
          </a:solidFill>
          <a:ln>
            <a:solidFill>
              <a:srgbClr val="40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081528"/>
            <a:ext cx="402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9FBFD"/>
                </a:solidFill>
                <a:latin typeface="Aptos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306324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D3B"/>
                </a:solidFill>
                <a:latin typeface="Aptos"/>
              </a:rPr>
              <a:t>All object storage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880360"/>
            <a:ext cx="5166360" cy="82296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880360"/>
            <a:ext cx="621792" cy="822960"/>
          </a:xfrm>
          <a:prstGeom prst="roundRect">
            <a:avLst/>
          </a:prstGeom>
          <a:solidFill>
            <a:srgbClr val="42C17B"/>
          </a:solidFill>
          <a:ln>
            <a:solidFill>
              <a:srgbClr val="42C1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3081528"/>
            <a:ext cx="402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9FBFD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5472" y="306324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D3B"/>
                </a:solidFill>
                <a:latin typeface="Aptos"/>
              </a:rPr>
              <a:t>All block storage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95928"/>
            <a:ext cx="5166360" cy="82296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995928"/>
            <a:ext cx="621792" cy="82296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197096"/>
            <a:ext cx="402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9FBFD"/>
                </a:solidFill>
                <a:latin typeface="Aptos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4178808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D3B"/>
                </a:solidFill>
                <a:latin typeface="Aptos"/>
              </a:rPr>
              <a:t>Three different models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995928"/>
            <a:ext cx="5166360" cy="82296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3995928"/>
            <a:ext cx="621792" cy="822960"/>
          </a:xfrm>
          <a:prstGeom prst="roundRect">
            <a:avLst/>
          </a:prstGeom>
          <a:solidFill>
            <a:srgbClr val="A16CF4"/>
          </a:solidFill>
          <a:ln>
            <a:solidFill>
              <a:srgbClr val="A16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4197096"/>
            <a:ext cx="402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9FBFD"/>
                </a:solidFill>
                <a:latin typeface="Aptos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4178808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D3B"/>
                </a:solidFill>
                <a:latin typeface="Aptos"/>
              </a:rPr>
              <a:t>Only file 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34924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87888"/>
                </a:solidFill>
                <a:latin typeface="Aptos"/>
              </a:rPr>
              <a:t>Answer is in the instructor guide.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87552"/>
            <a:ext cx="1188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9900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515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100" b="1">
                <a:solidFill>
                  <a:srgbClr val="F9FBFD"/>
                </a:solidFill>
                <a:latin typeface="Aptos"/>
              </a:rPr>
              <a:t>Three storage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3273552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4C2D0"/>
                </a:solidFill>
                <a:latin typeface="Aptos"/>
              </a:rPr>
              <a:t>Block, file, and object answer different exam constraints.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608076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9FBFD"/>
                </a:solidFill>
                <a:latin typeface="Aptos"/>
              </a:rPr>
              <a:t>THRIVEAFRICA • WEEK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WEEK 5 •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C1A2B"/>
                </a:solidFill>
                <a:latin typeface="Aptos"/>
              </a:rPr>
              <a:t>Block • File • Object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87888"/>
                </a:solidFill>
                <a:latin typeface="Aptos"/>
              </a:rPr>
              <a:t>Match the mental model before naming a 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7888"/>
                </a:solidFill>
                <a:latin typeface="Aptos"/>
              </a:rPr>
              <a:t>ThriveAfrica • AWS Cloud Practitioner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87888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520440" cy="324612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82296" cy="32461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1A2B"/>
                </a:solidFill>
                <a:latin typeface="Aptos"/>
              </a:rPr>
              <a:t>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3108960" cy="2496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87888"/>
                </a:solidFill>
                <a:latin typeface="Aptos"/>
              </a:rPr>
              <a:t>Virtual hard disk
One server’s volume
Boot disks • databases
EBS • instance store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520440" cy="324612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82296" cy="3246120"/>
          </a:xfrm>
          <a:prstGeom prst="rect">
            <a:avLst/>
          </a:prstGeom>
          <a:solidFill>
            <a:srgbClr val="409BF5"/>
          </a:solidFill>
          <a:ln>
            <a:solidFill>
              <a:srgbClr val="40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011680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1A2B"/>
                </a:solidFill>
                <a:latin typeface="Aptos"/>
              </a:rPr>
              <a:t>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68880"/>
            <a:ext cx="3108960" cy="2496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87888"/>
                </a:solidFill>
                <a:latin typeface="Aptos"/>
              </a:rPr>
              <a:t>Shared folder paths
Many servers mount it
NFS or SMB shares
EFS • FSx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20440" cy="324612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828800"/>
            <a:ext cx="82296" cy="3246120"/>
          </a:xfrm>
          <a:prstGeom prst="rect">
            <a:avLst/>
          </a:prstGeom>
          <a:solidFill>
            <a:srgbClr val="42C17B"/>
          </a:solidFill>
          <a:ln>
            <a:solidFill>
              <a:srgbClr val="42C1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011680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1A2B"/>
                </a:solidFill>
                <a:latin typeface="Aptos"/>
              </a:rPr>
              <a:t>Object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468880"/>
            <a:ext cx="3108960" cy="2496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87888"/>
                </a:solidFill>
                <a:latin typeface="Aptos"/>
              </a:rPr>
              <a:t>Objects in a bucket
Accessed by key
Web assets • archives
Amazon S3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WEEK 5 •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C1A2B"/>
                </a:solidFill>
                <a:latin typeface="Aptos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87888"/>
                </a:solidFill>
                <a:latin typeface="Aptos"/>
              </a:rPr>
              <a:t>Vote, then explain your choice.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7888"/>
                </a:solidFill>
                <a:latin typeface="Aptos"/>
              </a:rPr>
              <a:t>ThriveAfrica • AWS Cloud Practitioner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87888"/>
                </a:solidFill>
                <a:latin typeface="Apto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69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C1A2B"/>
                </a:solidFill>
                <a:latin typeface="Aptos"/>
              </a:rPr>
              <a:t>Static product images for a public website need durable object storage.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80360"/>
            <a:ext cx="5166360" cy="82296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880360"/>
            <a:ext cx="621792" cy="822960"/>
          </a:xfrm>
          <a:prstGeom prst="roundRect">
            <a:avLst/>
          </a:prstGeom>
          <a:solidFill>
            <a:srgbClr val="409BF5"/>
          </a:solidFill>
          <a:ln>
            <a:solidFill>
              <a:srgbClr val="40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081528"/>
            <a:ext cx="402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9FBFD"/>
                </a:solidFill>
                <a:latin typeface="Aptos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306324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D3B"/>
                </a:solidFill>
                <a:latin typeface="Aptos"/>
              </a:rPr>
              <a:t>Amazon EBS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880360"/>
            <a:ext cx="5166360" cy="82296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880360"/>
            <a:ext cx="621792" cy="822960"/>
          </a:xfrm>
          <a:prstGeom prst="roundRect">
            <a:avLst/>
          </a:prstGeom>
          <a:solidFill>
            <a:srgbClr val="42C17B"/>
          </a:solidFill>
          <a:ln>
            <a:solidFill>
              <a:srgbClr val="42C1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3081528"/>
            <a:ext cx="402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9FBFD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5472" y="306324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D3B"/>
                </a:solidFill>
                <a:latin typeface="Aptos"/>
              </a:rPr>
              <a:t>Amazon S3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95928"/>
            <a:ext cx="5166360" cy="82296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995928"/>
            <a:ext cx="621792" cy="82296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197096"/>
            <a:ext cx="402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9FBFD"/>
                </a:solidFill>
                <a:latin typeface="Aptos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4178808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D3B"/>
                </a:solidFill>
                <a:latin typeface="Aptos"/>
              </a:rPr>
              <a:t>Instance store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995928"/>
            <a:ext cx="5166360" cy="82296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3995928"/>
            <a:ext cx="621792" cy="822960"/>
          </a:xfrm>
          <a:prstGeom prst="roundRect">
            <a:avLst/>
          </a:prstGeom>
          <a:solidFill>
            <a:srgbClr val="A16CF4"/>
          </a:solidFill>
          <a:ln>
            <a:solidFill>
              <a:srgbClr val="A16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4197096"/>
            <a:ext cx="402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9FBFD"/>
                </a:solidFill>
                <a:latin typeface="Aptos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4178808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D3B"/>
                </a:solidFill>
                <a:latin typeface="Aptos"/>
              </a:rPr>
              <a:t>Amazon FSx for Windows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34924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87888"/>
                </a:solidFill>
                <a:latin typeface="Aptos"/>
              </a:rPr>
              <a:t>Answer is in the instructor guide.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87552"/>
            <a:ext cx="1188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9900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515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100" b="1">
                <a:solidFill>
                  <a:srgbClr val="F9FBFD"/>
                </a:solidFill>
                <a:latin typeface="Aptos"/>
              </a:rPr>
              <a:t>Amazon S3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3273552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4C2D0"/>
                </a:solidFill>
                <a:latin typeface="Aptos"/>
              </a:rPr>
              <a:t>Object storage with durability, control, and lifecycle automation.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608076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9FBFD"/>
                </a:solidFill>
                <a:latin typeface="Aptos"/>
              </a:rPr>
              <a:t>THRIVEAFRICA • WEEK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WEEK 5 •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C1A2B"/>
                </a:solidFill>
                <a:latin typeface="Aptos"/>
              </a:rPr>
              <a:t>Buckets and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87888"/>
                </a:solidFill>
                <a:latin typeface="Aptos"/>
              </a:rPr>
              <a:t>S3 stores objects inside regionally created buckets.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7888"/>
                </a:solidFill>
                <a:latin typeface="Aptos"/>
              </a:rPr>
              <a:t>ThriveAfrica • AWS Cloud Practitioner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87888"/>
                </a:solidFill>
                <a:latin typeface="Apto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F2D3B"/>
                </a:solidFill>
                <a:latin typeface="Aptos"/>
              </a:defRPr>
            </a:pPr>
            <a:r>
              <a:t>•  Bucket names must be globally unique</a:t>
            </a:r>
          </a:p>
          <a:p>
            <a:pPr>
              <a:spcAft>
                <a:spcPts val="900"/>
              </a:spcAft>
              <a:defRPr sz="1900">
                <a:solidFill>
                  <a:srgbClr val="1F2D3B"/>
                </a:solidFill>
                <a:latin typeface="Aptos"/>
              </a:defRPr>
            </a:pPr>
            <a:r>
              <a:t>•  Choose a Region when you create the bucket</a:t>
            </a:r>
          </a:p>
          <a:p>
            <a:pPr>
              <a:spcAft>
                <a:spcPts val="900"/>
              </a:spcAft>
              <a:defRPr sz="1900">
                <a:solidFill>
                  <a:srgbClr val="1F2D3B"/>
                </a:solidFill>
                <a:latin typeface="Aptos"/>
              </a:defRPr>
            </a:pPr>
            <a:r>
              <a:t>•  An object has a key, data, and metadata</a:t>
            </a:r>
          </a:p>
          <a:p>
            <a:pPr>
              <a:spcAft>
                <a:spcPts val="900"/>
              </a:spcAft>
              <a:defRPr sz="1900">
                <a:solidFill>
                  <a:srgbClr val="1F2D3B"/>
                </a:solidFill>
                <a:latin typeface="Aptos"/>
              </a:defRPr>
            </a:pPr>
            <a:r>
              <a:t>•  Access via console, CLI, SDK, or API over HTTPS</a:t>
            </a:r>
          </a:p>
          <a:p>
            <a:pPr>
              <a:spcAft>
                <a:spcPts val="900"/>
              </a:spcAft>
              <a:defRPr sz="1900">
                <a:solidFill>
                  <a:srgbClr val="1F2D3B"/>
                </a:solidFill>
                <a:latin typeface="Aptos"/>
              </a:defRPr>
            </a:pPr>
            <a:r>
              <a:t>•  Ideal for backups, static assets, data lakes, archives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920240"/>
            <a:ext cx="4572000" cy="137160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0840" y="1920240"/>
            <a:ext cx="82296" cy="137160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2103120"/>
            <a:ext cx="4160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1A2B"/>
                </a:solidFill>
                <a:latin typeface="Aptos"/>
              </a:rPr>
              <a:t>Remember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560320"/>
            <a:ext cx="41605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87888"/>
                </a:solidFill>
                <a:latin typeface="Aptos"/>
              </a:rPr>
              <a:t>S3 = object storage, not a block disk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3566160"/>
            <a:ext cx="4572000" cy="155448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20840" y="3566160"/>
            <a:ext cx="82296" cy="1554480"/>
          </a:xfrm>
          <a:prstGeom prst="rect">
            <a:avLst/>
          </a:prstGeom>
          <a:solidFill>
            <a:srgbClr val="409BF5"/>
          </a:solidFill>
          <a:ln>
            <a:solidFill>
              <a:srgbClr val="40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3749039"/>
            <a:ext cx="4160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1A2B"/>
                </a:solidFill>
                <a:latin typeface="Aptos"/>
              </a:rPr>
              <a:t>Exam cue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4206240"/>
            <a:ext cx="416052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87888"/>
                </a:solidFill>
                <a:latin typeface="Aptos"/>
              </a:rPr>
              <a:t>Unlimited objects • URL-style keys • regional buckets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WEEK 5 •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C1A2B"/>
                </a:solidFill>
                <a:latin typeface="Aptos"/>
              </a:rPr>
              <a:t>Durability vs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87888"/>
                </a:solidFill>
                <a:latin typeface="Aptos"/>
              </a:rPr>
              <a:t>Two words the exam loves to swap.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7888"/>
                </a:solidFill>
                <a:latin typeface="Aptos"/>
              </a:rPr>
              <a:t>ThriveAfrica • AWS Cloud Practitioner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87888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074920" cy="310896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74519"/>
            <a:ext cx="82296" cy="310896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4663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1A2B"/>
                </a:solidFill>
                <a:latin typeface="Aptos"/>
              </a:rPr>
              <a:t>Durability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4663440" cy="2359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87888"/>
                </a:solidFill>
                <a:latin typeface="Aptos"/>
              </a:rPr>
              <a:t>Will the data survive without loss?
S3 Standard is designed for
11 nines durability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74519"/>
            <a:ext cx="5074920" cy="310896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74519"/>
            <a:ext cx="82296" cy="3108960"/>
          </a:xfrm>
          <a:prstGeom prst="rect">
            <a:avLst/>
          </a:prstGeom>
          <a:solidFill>
            <a:srgbClr val="409BF5"/>
          </a:solidFill>
          <a:ln>
            <a:solidFill>
              <a:srgbClr val="40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057400"/>
            <a:ext cx="4663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1A2B"/>
                </a:solidFill>
                <a:latin typeface="Aptos"/>
              </a:rPr>
              <a:t>Availability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514600"/>
            <a:ext cx="4663440" cy="2359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87888"/>
                </a:solidFill>
                <a:latin typeface="Aptos"/>
              </a:rPr>
              <a:t>Can you retrieve it when needed?
Classes differ in retrieval
speed and availability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0352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C1A2B"/>
                </a:solidFill>
                <a:latin typeface="Aptos"/>
              </a:rPr>
              <a:t>Durability = do not lose it     •     Availability = can I get it now?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WEEK 5 •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C1A2B"/>
                </a:solidFill>
                <a:latin typeface="Aptos"/>
              </a:rPr>
              <a:t>Protect and control S3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87888"/>
                </a:solidFill>
                <a:latin typeface="Aptos"/>
              </a:rPr>
              <a:t>Versioning, Block Public Access, and Object Lock.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7888"/>
                </a:solidFill>
                <a:latin typeface="Aptos"/>
              </a:rPr>
              <a:t>ThriveAfrica • AWS Cloud Practitioner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87888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520440" cy="324612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82296" cy="32461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1A2B"/>
                </a:solidFill>
                <a:latin typeface="Aptos"/>
              </a:rPr>
              <a:t>Versioning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3108960" cy="2496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87888"/>
                </a:solidFill>
                <a:latin typeface="Aptos"/>
              </a:rPr>
              <a:t>Keep prior versions
Recover overwrites
Delete markers
Restore earlier copies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520440" cy="324612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82296" cy="3246120"/>
          </a:xfrm>
          <a:prstGeom prst="rect">
            <a:avLst/>
          </a:prstGeom>
          <a:solidFill>
            <a:srgbClr val="409BF5"/>
          </a:solidFill>
          <a:ln>
            <a:solidFill>
              <a:srgbClr val="40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011680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1A2B"/>
                </a:solidFill>
                <a:latin typeface="Aptos"/>
              </a:rPr>
              <a:t>Block Public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68880"/>
            <a:ext cx="3108960" cy="2496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87888"/>
                </a:solidFill>
                <a:latin typeface="Aptos"/>
              </a:rPr>
              <a:t>Stop accidental public
bucket or object access
Default on new buckets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20440" cy="324612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828800"/>
            <a:ext cx="82296" cy="3246120"/>
          </a:xfrm>
          <a:prstGeom prst="rect">
            <a:avLst/>
          </a:prstGeom>
          <a:solidFill>
            <a:srgbClr val="42C17B"/>
          </a:solidFill>
          <a:ln>
            <a:solidFill>
              <a:srgbClr val="42C1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011680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1A2B"/>
                </a:solidFill>
                <a:latin typeface="Aptos"/>
              </a:rPr>
              <a:t>Object 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468880"/>
            <a:ext cx="3108960" cy="2496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87888"/>
                </a:solidFill>
                <a:latin typeface="Aptos"/>
              </a:rPr>
              <a:t>WORM retention
Compliance immutability
Requires versioning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WEEK 5 •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C1A2B"/>
                </a:solidFill>
                <a:latin typeface="Aptos"/>
              </a:rPr>
              <a:t>Lifecycle and replication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87888"/>
                </a:solidFill>
                <a:latin typeface="Aptos"/>
              </a:rPr>
              <a:t>Automate cost tiering; copy objects when required.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7888"/>
                </a:solidFill>
                <a:latin typeface="Aptos"/>
              </a:rPr>
              <a:t>ThriveAfrica • AWS Cloud Practitioner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87888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074920" cy="320040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74519"/>
            <a:ext cx="82296" cy="320040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4663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1A2B"/>
                </a:solidFill>
                <a:latin typeface="Aptos"/>
              </a:rPr>
              <a:t>Lifecycle policies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4663440" cy="2450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87888"/>
                </a:solidFill>
                <a:latin typeface="Aptos"/>
              </a:rPr>
              <a:t>Transition or expire automatically
Lab pattern:
IA at 30 days
Glacier at 90 days
Expire at 365 days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74519"/>
            <a:ext cx="5074920" cy="320040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74519"/>
            <a:ext cx="82296" cy="3200400"/>
          </a:xfrm>
          <a:prstGeom prst="rect">
            <a:avLst/>
          </a:prstGeom>
          <a:solidFill>
            <a:srgbClr val="409BF5"/>
          </a:solidFill>
          <a:ln>
            <a:solidFill>
              <a:srgbClr val="40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057400"/>
            <a:ext cx="4663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1A2B"/>
                </a:solidFill>
                <a:latin typeface="Aptos"/>
              </a:rPr>
              <a:t>Replication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514600"/>
            <a:ext cx="4663440" cy="2450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87888"/>
                </a:solidFill>
                <a:latin typeface="Aptos"/>
              </a:rPr>
              <a:t>Copy to another bucket
SRR or Cross-Region (CRR)
Versioning required
DR / compliance clue → CRR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87552"/>
            <a:ext cx="1188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9900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515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100" b="1">
                <a:solidFill>
                  <a:srgbClr val="F9FBFD"/>
                </a:solidFill>
                <a:latin typeface="Aptos"/>
              </a:rPr>
              <a:t>Seven storage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3273552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4C2D0"/>
                </a:solidFill>
                <a:latin typeface="Aptos"/>
              </a:rPr>
              <a:t>Access pattern + retrieval time + minimum duration.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608076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9FBFD"/>
                </a:solidFill>
                <a:latin typeface="Aptos"/>
              </a:rPr>
              <a:t>THRIVEAFRICA • WEEK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WEEK 5 •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C1A2B"/>
                </a:solidFill>
                <a:latin typeface="Aptos"/>
              </a:rPr>
              <a:t>The seven S3 storage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87888"/>
                </a:solidFill>
                <a:latin typeface="Aptos"/>
              </a:rPr>
              <a:t>Know the job of each class.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7888"/>
                </a:solidFill>
                <a:latin typeface="Aptos"/>
              </a:rPr>
              <a:t>ThriveAfrica • AWS Cloud Practitioner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87888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1554480" cy="306324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1554480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286000"/>
            <a:ext cx="140817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C1A2B"/>
                </a:solidFill>
                <a:latin typeface="Aptos"/>
              </a:rPr>
              <a:t>Standard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3566160"/>
            <a:ext cx="140817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87888"/>
                </a:solidFill>
                <a:latin typeface="Aptos"/>
              </a:rPr>
              <a:t>Frequent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67128" y="1965960"/>
            <a:ext cx="1554480" cy="306324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67128" y="1965960"/>
            <a:ext cx="1554480" cy="109728"/>
          </a:xfrm>
          <a:prstGeom prst="rect">
            <a:avLst/>
          </a:prstGeom>
          <a:solidFill>
            <a:srgbClr val="409BF5"/>
          </a:solidFill>
          <a:ln>
            <a:solidFill>
              <a:srgbClr val="40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0280" y="2286000"/>
            <a:ext cx="140817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C1A2B"/>
                </a:solidFill>
                <a:latin typeface="Aptos"/>
              </a:rPr>
              <a:t>Intelligent-Tiering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566160"/>
            <a:ext cx="140817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87888"/>
                </a:solidFill>
                <a:latin typeface="Aptos"/>
              </a:rPr>
              <a:t>Unknown patterns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31336" y="1965960"/>
            <a:ext cx="1554480" cy="306324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31336" y="1965960"/>
            <a:ext cx="1554480" cy="109728"/>
          </a:xfrm>
          <a:prstGeom prst="rect">
            <a:avLst/>
          </a:prstGeom>
          <a:solidFill>
            <a:srgbClr val="42C17B"/>
          </a:solidFill>
          <a:ln>
            <a:solidFill>
              <a:srgbClr val="42C1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04488" y="2286000"/>
            <a:ext cx="140817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C1A2B"/>
                </a:solidFill>
                <a:latin typeface="Aptos"/>
              </a:rPr>
              <a:t>Standard-IA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4488" y="3566160"/>
            <a:ext cx="140817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87888"/>
                </a:solidFill>
                <a:latin typeface="Aptos"/>
              </a:rPr>
              <a:t>Infrequent + fast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95544" y="1965960"/>
            <a:ext cx="1554480" cy="306324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95544" y="1965960"/>
            <a:ext cx="1554480" cy="109728"/>
          </a:xfrm>
          <a:prstGeom prst="rect">
            <a:avLst/>
          </a:prstGeom>
          <a:solidFill>
            <a:srgbClr val="A16CF4"/>
          </a:solidFill>
          <a:ln>
            <a:solidFill>
              <a:srgbClr val="A16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68696" y="2286000"/>
            <a:ext cx="140817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C1A2B"/>
                </a:solidFill>
                <a:latin typeface="Aptos"/>
              </a:rPr>
              <a:t>One Zone-IA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8696" y="3566160"/>
            <a:ext cx="140817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87888"/>
                </a:solidFill>
                <a:latin typeface="Aptos"/>
              </a:rPr>
              <a:t>Infrequent + one AZ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59752" y="1965960"/>
            <a:ext cx="1554480" cy="306324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59752" y="1965960"/>
            <a:ext cx="1554480" cy="109728"/>
          </a:xfrm>
          <a:prstGeom prst="rect">
            <a:avLst/>
          </a:prstGeom>
          <a:solidFill>
            <a:srgbClr val="EB5B68"/>
          </a:solidFill>
          <a:ln>
            <a:solidFill>
              <a:srgbClr val="EB5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2904" y="2286000"/>
            <a:ext cx="140817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C1A2B"/>
                </a:solidFill>
                <a:latin typeface="Aptos"/>
              </a:rPr>
              <a:t>Glacier Instant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2904" y="3566160"/>
            <a:ext cx="140817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87888"/>
                </a:solidFill>
                <a:latin typeface="Aptos"/>
              </a:rPr>
              <a:t>Archive + ms retrieve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23960" y="1965960"/>
            <a:ext cx="1554480" cy="306324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23960" y="1965960"/>
            <a:ext cx="1554480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97112" y="2286000"/>
            <a:ext cx="140817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C1A2B"/>
                </a:solidFill>
                <a:latin typeface="Aptos"/>
              </a:rPr>
              <a:t>Glacier Flexible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7112" y="3566160"/>
            <a:ext cx="140817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87888"/>
                </a:solidFill>
                <a:latin typeface="Aptos"/>
              </a:rPr>
              <a:t>Archive + hours OK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88168" y="1965960"/>
            <a:ext cx="1554480" cy="306324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488168" y="1965960"/>
            <a:ext cx="1554480" cy="109728"/>
          </a:xfrm>
          <a:prstGeom prst="rect">
            <a:avLst/>
          </a:prstGeom>
          <a:solidFill>
            <a:srgbClr val="409BF5"/>
          </a:solidFill>
          <a:ln>
            <a:solidFill>
              <a:srgbClr val="40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61320" y="2286000"/>
            <a:ext cx="140817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C1A2B"/>
                </a:solidFill>
                <a:latin typeface="Aptos"/>
              </a:rPr>
              <a:t>Deep Archive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1320" y="3566160"/>
            <a:ext cx="140817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87888"/>
                </a:solidFill>
                <a:latin typeface="Aptos"/>
              </a:rPr>
              <a:t>Lowest-cost archive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WEEK 5 •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C1A2B"/>
                </a:solidFill>
                <a:latin typeface="Aptos"/>
              </a:rPr>
              <a:t>Retrieval times and minimum durations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87888"/>
                </a:solidFill>
                <a:latin typeface="Aptos"/>
              </a:rPr>
              <a:t>These numbers win scenario questions.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7888"/>
                </a:solidFill>
                <a:latin typeface="Aptos"/>
              </a:rPr>
              <a:t>ThriveAfrica • AWS Cloud Practitioner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87888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10835640" cy="457200"/>
          </a:xfrm>
          <a:prstGeom prst="roundRect">
            <a:avLst/>
          </a:prstGeom>
          <a:solidFill>
            <a:srgbClr val="162C44"/>
          </a:solidFill>
          <a:ln>
            <a:solidFill>
              <a:srgbClr val="162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9FBFD"/>
                </a:solidFill>
                <a:latin typeface="Aptos"/>
              </a:rPr>
              <a:t>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9FBFD"/>
                </a:solidFill>
                <a:latin typeface="Aptos"/>
              </a:rPr>
              <a:t>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8288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9FBFD"/>
                </a:solidFill>
                <a:latin typeface="Aptos"/>
              </a:rPr>
              <a:t>Minimum duration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286000"/>
            <a:ext cx="10835640" cy="438912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286000"/>
            <a:ext cx="91440" cy="438912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359152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C1A2B"/>
                </a:solidFill>
                <a:latin typeface="Aptos"/>
              </a:rPr>
              <a:t>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5915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D3B"/>
                </a:solidFill>
                <a:latin typeface="Aptos"/>
              </a:rPr>
              <a:t>Milliseconds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35915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87888"/>
                </a:solidFill>
                <a:latin typeface="Aptos"/>
              </a:rPr>
              <a:t>None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788920"/>
            <a:ext cx="10835640" cy="438912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788920"/>
            <a:ext cx="91440" cy="438912"/>
          </a:xfrm>
          <a:prstGeom prst="rect">
            <a:avLst/>
          </a:prstGeom>
          <a:solidFill>
            <a:srgbClr val="409BF5"/>
          </a:solidFill>
          <a:ln>
            <a:solidFill>
              <a:srgbClr val="40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862072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C1A2B"/>
                </a:solidFill>
                <a:latin typeface="Aptos"/>
              </a:rPr>
              <a:t>Intelligent-Tiering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8620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D3B"/>
                </a:solidFill>
                <a:latin typeface="Aptos"/>
              </a:rPr>
              <a:t>ms (freq/infreq)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8620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87888"/>
                </a:solidFill>
                <a:latin typeface="Aptos"/>
              </a:rPr>
              <a:t>Watch archive tiers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291840"/>
            <a:ext cx="10835640" cy="438912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291840"/>
            <a:ext cx="91440" cy="438912"/>
          </a:xfrm>
          <a:prstGeom prst="rect">
            <a:avLst/>
          </a:prstGeom>
          <a:solidFill>
            <a:srgbClr val="42C17B"/>
          </a:solidFill>
          <a:ln>
            <a:solidFill>
              <a:srgbClr val="42C1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364992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C1A2B"/>
                </a:solidFill>
                <a:latin typeface="Aptos"/>
              </a:rPr>
              <a:t>Standard-IA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36499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D3B"/>
                </a:solidFill>
                <a:latin typeface="Aptos"/>
              </a:rPr>
              <a:t>Milliseconds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336499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87888"/>
                </a:solidFill>
                <a:latin typeface="Aptos"/>
              </a:rPr>
              <a:t>30 days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794760"/>
            <a:ext cx="10835640" cy="438912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3794760"/>
            <a:ext cx="91440" cy="438912"/>
          </a:xfrm>
          <a:prstGeom prst="rect">
            <a:avLst/>
          </a:prstGeom>
          <a:solidFill>
            <a:srgbClr val="A16CF4"/>
          </a:solidFill>
          <a:ln>
            <a:solidFill>
              <a:srgbClr val="A16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867912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C1A2B"/>
                </a:solidFill>
                <a:latin typeface="Aptos"/>
              </a:rPr>
              <a:t>One Zone-IA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86791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D3B"/>
                </a:solidFill>
                <a:latin typeface="Aptos"/>
              </a:rPr>
              <a:t>Milliseconds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386791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87888"/>
                </a:solidFill>
                <a:latin typeface="Aptos"/>
              </a:rPr>
              <a:t>30 days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297680"/>
            <a:ext cx="10835640" cy="438912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4297680"/>
            <a:ext cx="91440" cy="438912"/>
          </a:xfrm>
          <a:prstGeom prst="rect">
            <a:avLst/>
          </a:prstGeom>
          <a:solidFill>
            <a:srgbClr val="EB5B68"/>
          </a:solidFill>
          <a:ln>
            <a:solidFill>
              <a:srgbClr val="EB5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370832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C1A2B"/>
                </a:solidFill>
                <a:latin typeface="Aptos"/>
              </a:rPr>
              <a:t>Glacier Instant Retrieval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37083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D3B"/>
                </a:solidFill>
                <a:latin typeface="Aptos"/>
              </a:rPr>
              <a:t>Milliseconds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437083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87888"/>
                </a:solidFill>
                <a:latin typeface="Aptos"/>
              </a:rPr>
              <a:t>90 days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800600"/>
            <a:ext cx="10835640" cy="438912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5800" y="4800600"/>
            <a:ext cx="91440" cy="438912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873752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C1A2B"/>
                </a:solidFill>
                <a:latin typeface="Aptos"/>
              </a:rPr>
              <a:t>Glacier Flexible Retrieval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487375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D3B"/>
                </a:solidFill>
                <a:latin typeface="Aptos"/>
              </a:rPr>
              <a:t>Minutes to hours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487375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87888"/>
                </a:solidFill>
                <a:latin typeface="Aptos"/>
              </a:rPr>
              <a:t>90 days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5303520"/>
            <a:ext cx="10835640" cy="438912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5800" y="5303520"/>
            <a:ext cx="91440" cy="438912"/>
          </a:xfrm>
          <a:prstGeom prst="rect">
            <a:avLst/>
          </a:prstGeom>
          <a:solidFill>
            <a:srgbClr val="409BF5"/>
          </a:solidFill>
          <a:ln>
            <a:solidFill>
              <a:srgbClr val="40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376672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C1A2B"/>
                </a:solidFill>
                <a:latin typeface="Aptos"/>
              </a:rPr>
              <a:t>Glacier Deep Archive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53766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D3B"/>
                </a:solidFill>
                <a:latin typeface="Aptos"/>
              </a:rPr>
              <a:t>~12h / up to ~48h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53766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87888"/>
                </a:solidFill>
                <a:latin typeface="Aptos"/>
              </a:rPr>
              <a:t>180 days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WEEK 5 •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C1A2B"/>
                </a:solidFill>
                <a:latin typeface="Aptos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87888"/>
                </a:solidFill>
                <a:latin typeface="Aptos"/>
              </a:rPr>
              <a:t>Vote, then explain your choice.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7888"/>
                </a:solidFill>
                <a:latin typeface="Aptos"/>
              </a:rPr>
              <a:t>ThriveAfrica • AWS Cloud Practitioner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87888"/>
                </a:solidFill>
                <a:latin typeface="Aptos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69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C1A2B"/>
                </a:solidFill>
                <a:latin typeface="Aptos"/>
              </a:rPr>
              <a:t>Data must be archived at lowest cost. Retrieval in about 12 hours is acceptable.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80360"/>
            <a:ext cx="5166360" cy="82296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880360"/>
            <a:ext cx="621792" cy="822960"/>
          </a:xfrm>
          <a:prstGeom prst="roundRect">
            <a:avLst/>
          </a:prstGeom>
          <a:solidFill>
            <a:srgbClr val="409BF5"/>
          </a:solidFill>
          <a:ln>
            <a:solidFill>
              <a:srgbClr val="40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081528"/>
            <a:ext cx="402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9FBFD"/>
                </a:solidFill>
                <a:latin typeface="Aptos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306324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D3B"/>
                </a:solidFill>
                <a:latin typeface="Aptos"/>
              </a:rPr>
              <a:t>S3 Standard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880360"/>
            <a:ext cx="5166360" cy="82296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880360"/>
            <a:ext cx="621792" cy="822960"/>
          </a:xfrm>
          <a:prstGeom prst="roundRect">
            <a:avLst/>
          </a:prstGeom>
          <a:solidFill>
            <a:srgbClr val="42C17B"/>
          </a:solidFill>
          <a:ln>
            <a:solidFill>
              <a:srgbClr val="42C1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3081528"/>
            <a:ext cx="402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9FBFD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5472" y="306324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D3B"/>
                </a:solidFill>
                <a:latin typeface="Aptos"/>
              </a:rPr>
              <a:t>S3 Glacier Instant Retrieval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95928"/>
            <a:ext cx="5166360" cy="82296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995928"/>
            <a:ext cx="621792" cy="82296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197096"/>
            <a:ext cx="402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9FBFD"/>
                </a:solidFill>
                <a:latin typeface="Aptos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4178808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D3B"/>
                </a:solidFill>
                <a:latin typeface="Aptos"/>
              </a:rPr>
              <a:t>S3 Glacier Deep Archive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995928"/>
            <a:ext cx="5166360" cy="82296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3995928"/>
            <a:ext cx="621792" cy="822960"/>
          </a:xfrm>
          <a:prstGeom prst="roundRect">
            <a:avLst/>
          </a:prstGeom>
          <a:solidFill>
            <a:srgbClr val="A16CF4"/>
          </a:solidFill>
          <a:ln>
            <a:solidFill>
              <a:srgbClr val="A16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4197096"/>
            <a:ext cx="402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9FBFD"/>
                </a:solidFill>
                <a:latin typeface="Aptos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4178808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D3B"/>
                </a:solidFill>
                <a:latin typeface="Aptos"/>
              </a:rPr>
              <a:t>S3 One Zone-IA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34924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87888"/>
                </a:solidFill>
                <a:latin typeface="Aptos"/>
              </a:rPr>
              <a:t>Answer is in the instructor guide.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87552"/>
            <a:ext cx="1188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9900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515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100" b="1">
                <a:solidFill>
                  <a:srgbClr val="F9FBFD"/>
                </a:solidFill>
                <a:latin typeface="Aptos"/>
              </a:rPr>
              <a:t>Block storage for EC2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3273552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4C2D0"/>
                </a:solidFill>
                <a:latin typeface="Aptos"/>
              </a:rPr>
              <a:t>Persistent EBS volumes versus temporary instance store.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608076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9FBFD"/>
                </a:solidFill>
                <a:latin typeface="Aptos"/>
              </a:rPr>
              <a:t>THRIVEAFRICA • WEEK 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WEEK 5 •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C1A2B"/>
                </a:solidFill>
                <a:latin typeface="Aptos"/>
              </a:rPr>
              <a:t>EBS volume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87888"/>
                </a:solidFill>
                <a:latin typeface="Aptos"/>
              </a:rPr>
              <a:t>Match the performance clue, not every IOPS number.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7888"/>
                </a:solidFill>
                <a:latin typeface="Aptos"/>
              </a:rPr>
              <a:t>ThriveAfrica • AWS Cloud Practitioner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87888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2697480" cy="310896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82296" cy="310896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1A2B"/>
                </a:solidFill>
                <a:latin typeface="Aptos"/>
              </a:rPr>
              <a:t>gp3 / gp2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2286000" cy="2359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87888"/>
                </a:solidFill>
                <a:latin typeface="Aptos"/>
              </a:rPr>
              <a:t>General-purpose SSD
Boot volumes
Everyday workloads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920240"/>
            <a:ext cx="2697480" cy="310896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1920240"/>
            <a:ext cx="82296" cy="3108960"/>
          </a:xfrm>
          <a:prstGeom prst="rect">
            <a:avLst/>
          </a:prstGeom>
          <a:solidFill>
            <a:srgbClr val="409BF5"/>
          </a:solidFill>
          <a:ln>
            <a:solidFill>
              <a:srgbClr val="40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2103120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1A2B"/>
                </a:solidFill>
                <a:latin typeface="Aptos"/>
              </a:rPr>
              <a:t>io1 / io2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560320"/>
            <a:ext cx="2286000" cy="2359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87888"/>
                </a:solidFill>
                <a:latin typeface="Aptos"/>
              </a:rPr>
              <a:t>Provisioned IOPS SSD
Consistent high IOPS
Critical databases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920240"/>
            <a:ext cx="2697480" cy="310896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1920240"/>
            <a:ext cx="82296" cy="3108960"/>
          </a:xfrm>
          <a:prstGeom prst="rect">
            <a:avLst/>
          </a:prstGeom>
          <a:solidFill>
            <a:srgbClr val="42C17B"/>
          </a:solidFill>
          <a:ln>
            <a:solidFill>
              <a:srgbClr val="42C1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103120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1A2B"/>
                </a:solidFill>
                <a:latin typeface="Aptos"/>
              </a:rPr>
              <a:t>st1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560320"/>
            <a:ext cx="2286000" cy="2359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87888"/>
                </a:solidFill>
                <a:latin typeface="Aptos"/>
              </a:rPr>
              <a:t>Throughput HDD
Large sequential data
Big data / logs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920240"/>
            <a:ext cx="2697480" cy="310896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920240"/>
            <a:ext cx="82296" cy="3108960"/>
          </a:xfrm>
          <a:prstGeom prst="rect">
            <a:avLst/>
          </a:prstGeom>
          <a:solidFill>
            <a:srgbClr val="A16CF4"/>
          </a:solidFill>
          <a:ln>
            <a:solidFill>
              <a:srgbClr val="A16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103120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1A2B"/>
                </a:solidFill>
                <a:latin typeface="Aptos"/>
              </a:rPr>
              <a:t>sc1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560320"/>
            <a:ext cx="2286000" cy="2359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87888"/>
                </a:solidFill>
                <a:latin typeface="Aptos"/>
              </a:rPr>
              <a:t>Cold HDD
Infrequent access
Lowest-cost HDD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WEEK 5 •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C1A2B"/>
                </a:solidFill>
                <a:latin typeface="Aptos"/>
              </a:rPr>
              <a:t>Snapshots and Availability Zones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87888"/>
                </a:solidFill>
                <a:latin typeface="Aptos"/>
              </a:rPr>
              <a:t>An EBS volume lives in one AZ.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7888"/>
                </a:solidFill>
                <a:latin typeface="Aptos"/>
              </a:rPr>
              <a:t>ThriveAfrica • AWS Cloud Practitioner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87888"/>
                </a:solidFill>
                <a:latin typeface="Aptos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6400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D3B"/>
                </a:solidFill>
                <a:latin typeface="Aptos"/>
              </a:defRPr>
            </a:pPr>
            <a:r>
              <a:t>•  Create a snapshot of the volume</a:t>
            </a:r>
          </a:p>
          <a:p>
            <a:pPr>
              <a:spcAft>
                <a:spcPts val="900"/>
              </a:spcAft>
              <a:defRPr sz="1800">
                <a:solidFill>
                  <a:srgbClr val="1F2D3B"/>
                </a:solidFill>
                <a:latin typeface="Aptos"/>
              </a:defRPr>
            </a:pPr>
            <a:r>
              <a:t>•  Snapshots are stored as AWS-managed backups in S3</a:t>
            </a:r>
          </a:p>
          <a:p>
            <a:pPr>
              <a:spcAft>
                <a:spcPts val="900"/>
              </a:spcAft>
              <a:defRPr sz="1800">
                <a:solidFill>
                  <a:srgbClr val="1F2D3B"/>
                </a:solidFill>
                <a:latin typeface="Aptos"/>
              </a:defRPr>
            </a:pPr>
            <a:r>
              <a:t>•  Snapshots are incremental after the first full copy</a:t>
            </a:r>
          </a:p>
          <a:p>
            <a:pPr>
              <a:spcAft>
                <a:spcPts val="900"/>
              </a:spcAft>
              <a:defRPr sz="1800">
                <a:solidFill>
                  <a:srgbClr val="1F2D3B"/>
                </a:solidFill>
                <a:latin typeface="Aptos"/>
              </a:defRPr>
            </a:pPr>
            <a:r>
              <a:t>•  Create a new volume from the snapshot in another AZ</a:t>
            </a:r>
          </a:p>
          <a:p>
            <a:pPr>
              <a:spcAft>
                <a:spcPts val="900"/>
              </a:spcAft>
              <a:defRPr sz="1800">
                <a:solidFill>
                  <a:srgbClr val="1F2D3B"/>
                </a:solidFill>
                <a:latin typeface="Aptos"/>
              </a:defRPr>
            </a:pPr>
            <a:r>
              <a:t>•  You cannot simply re-attach the same volume across AZs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2011680"/>
            <a:ext cx="3840480" cy="292608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2011680"/>
            <a:ext cx="82296" cy="292608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2194560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1A2B"/>
                </a:solidFill>
                <a:latin typeface="Aptos"/>
              </a:rPr>
              <a:t>Lab move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2651760"/>
            <a:ext cx="3429000" cy="2176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87888"/>
                </a:solidFill>
                <a:latin typeface="Aptos"/>
              </a:rPr>
              <a:t>AZ A volume
→ snapshot
→ AZ B volume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WEEK 5 •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C1A2B"/>
                </a:solidFill>
                <a:latin typeface="Aptos"/>
              </a:rPr>
              <a:t>Instance store is temporary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87888"/>
                </a:solidFill>
                <a:latin typeface="Aptos"/>
              </a:rPr>
              <a:t>Local host disk is fast—and ephemeral.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7888"/>
                </a:solidFill>
                <a:latin typeface="Aptos"/>
              </a:rPr>
              <a:t>ThriveAfrica • AWS Cloud Practitioner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87888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074920" cy="315468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74519"/>
            <a:ext cx="82296" cy="3154680"/>
          </a:xfrm>
          <a:prstGeom prst="rect">
            <a:avLst/>
          </a:prstGeom>
          <a:solidFill>
            <a:srgbClr val="409BF5"/>
          </a:solidFill>
          <a:ln>
            <a:solidFill>
              <a:srgbClr val="40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4663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1A2B"/>
                </a:solidFill>
                <a:latin typeface="Aptos"/>
              </a:rPr>
              <a:t>Use instance store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4663440" cy="2404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87888"/>
                </a:solidFill>
                <a:latin typeface="Aptos"/>
              </a:rPr>
              <a:t>Caches
Buffers
Scratch space
Temporary processing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74519"/>
            <a:ext cx="5074920" cy="315468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74519"/>
            <a:ext cx="82296" cy="3154680"/>
          </a:xfrm>
          <a:prstGeom prst="rect">
            <a:avLst/>
          </a:prstGeom>
          <a:solidFill>
            <a:srgbClr val="EB5B68"/>
          </a:solidFill>
          <a:ln>
            <a:solidFill>
              <a:srgbClr val="EB5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057400"/>
            <a:ext cx="4663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1A2B"/>
                </a:solidFill>
                <a:latin typeface="Aptos"/>
              </a:rPr>
              <a:t>Do not use it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514600"/>
            <a:ext cx="4663440" cy="2404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87888"/>
                </a:solidFill>
                <a:latin typeface="Aptos"/>
              </a:rPr>
              <a:t>Only copy of important data
Database durability
Anything that must survive stop/terminate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4924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C1A2B"/>
                </a:solidFill>
                <a:latin typeface="Aptos"/>
              </a:rPr>
              <a:t>EBS persists  •  Instance store is lost on stop, terminate, or host failure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87552"/>
            <a:ext cx="1188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9900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515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100" b="1">
                <a:solidFill>
                  <a:srgbClr val="F9FBFD"/>
                </a:solidFill>
                <a:latin typeface="Aptos"/>
              </a:rPr>
              <a:t>File systems and hybrid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3273552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4C2D0"/>
                </a:solidFill>
                <a:latin typeface="Aptos"/>
              </a:rPr>
              <a:t>Shared files in AWS, plus on-premises bridges.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608076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9FBFD"/>
                </a:solidFill>
                <a:latin typeface="Aptos"/>
              </a:rPr>
              <a:t>THRIVEAFRICA • WEEK 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WEEK 5 •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C1A2B"/>
                </a:solidFill>
                <a:latin typeface="Aptos"/>
              </a:rPr>
              <a:t>EFS vs FSx for Windows File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87888"/>
                </a:solidFill>
                <a:latin typeface="Aptos"/>
              </a:rPr>
              <a:t>Protocol and operating system decide.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7888"/>
                </a:solidFill>
                <a:latin typeface="Aptos"/>
              </a:rPr>
              <a:t>ThriveAfrica • AWS Cloud Practitioner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87888"/>
                </a:solidFill>
                <a:latin typeface="Aptos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074920" cy="320040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74519"/>
            <a:ext cx="82296" cy="320040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4663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1A2B"/>
                </a:solidFill>
                <a:latin typeface="Aptos"/>
              </a:rPr>
              <a:t>Amazon EFS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4663440" cy="2450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87888"/>
                </a:solidFill>
                <a:latin typeface="Aptos"/>
              </a:rPr>
              <a:t>NFS file system
Linux / Unix workloads
Regional multi-AZ design
Many EC2 mounts across AZs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74519"/>
            <a:ext cx="5074920" cy="320040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74519"/>
            <a:ext cx="82296" cy="3200400"/>
          </a:xfrm>
          <a:prstGeom prst="rect">
            <a:avLst/>
          </a:prstGeom>
          <a:solidFill>
            <a:srgbClr val="409BF5"/>
          </a:solidFill>
          <a:ln>
            <a:solidFill>
              <a:srgbClr val="40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057400"/>
            <a:ext cx="4663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1A2B"/>
                </a:solidFill>
                <a:latin typeface="Aptos"/>
              </a:rPr>
              <a:t>FSx for Windows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514600"/>
            <a:ext cx="4663440" cy="2450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87888"/>
                </a:solidFill>
                <a:latin typeface="Aptos"/>
              </a:rPr>
              <a:t>SMB file shares
Windows workloads
Active Directory integration
Managed Windows file server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WEEK 5 •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C1A2B"/>
                </a:solidFill>
                <a:latin typeface="Aptos"/>
              </a:rPr>
              <a:t>AWS Storage 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87888"/>
                </a:solidFill>
                <a:latin typeface="Aptos"/>
              </a:rPr>
              <a:t>Connect on-premises environments to AWS storage.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7888"/>
                </a:solidFill>
                <a:latin typeface="Aptos"/>
              </a:rPr>
              <a:t>ThriveAfrica • AWS Cloud Practitioner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87888"/>
                </a:solidFill>
                <a:latin typeface="Aptos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3520440" cy="315468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82296" cy="315468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1A2B"/>
                </a:solidFill>
                <a:latin typeface="Aptos"/>
              </a:rPr>
              <a:t>File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3108960" cy="2404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87888"/>
                </a:solidFill>
                <a:latin typeface="Aptos"/>
              </a:rPr>
              <a:t>NFS / SMB shares
Files stored as
S3 objects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74519"/>
            <a:ext cx="3520440" cy="315468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874519"/>
            <a:ext cx="82296" cy="3154680"/>
          </a:xfrm>
          <a:prstGeom prst="rect">
            <a:avLst/>
          </a:prstGeom>
          <a:solidFill>
            <a:srgbClr val="409BF5"/>
          </a:solidFill>
          <a:ln>
            <a:solidFill>
              <a:srgbClr val="40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057400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1A2B"/>
                </a:solidFill>
                <a:latin typeface="Aptos"/>
              </a:rPr>
              <a:t>Volume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14600"/>
            <a:ext cx="3108960" cy="2404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87888"/>
                </a:solidFill>
                <a:latin typeface="Aptos"/>
              </a:rPr>
              <a:t>iSCSI volumes
Cached or stored
volume modes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74519"/>
            <a:ext cx="3520440" cy="315468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874519"/>
            <a:ext cx="82296" cy="3154680"/>
          </a:xfrm>
          <a:prstGeom prst="rect">
            <a:avLst/>
          </a:prstGeom>
          <a:solidFill>
            <a:srgbClr val="42C17B"/>
          </a:solidFill>
          <a:ln>
            <a:solidFill>
              <a:srgbClr val="42C1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057400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1A2B"/>
                </a:solidFill>
                <a:latin typeface="Aptos"/>
              </a:rPr>
              <a:t>Tape 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514600"/>
            <a:ext cx="3108960" cy="2404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87888"/>
                </a:solidFill>
                <a:latin typeface="Aptos"/>
              </a:rPr>
              <a:t>Virtual tape library
Replace physical
tape workflows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WEEK 5 •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C1A2B"/>
                </a:solidFill>
                <a:latin typeface="Aptos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87888"/>
                </a:solidFill>
                <a:latin typeface="Aptos"/>
              </a:rPr>
              <a:t>Vote, then explain your choice.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7888"/>
                </a:solidFill>
                <a:latin typeface="Aptos"/>
              </a:rPr>
              <a:t>ThriveAfrica • AWS Cloud Practitioner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87888"/>
                </a:solidFill>
                <a:latin typeface="Aptos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69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C1A2B"/>
                </a:solidFill>
                <a:latin typeface="Aptos"/>
              </a:rPr>
              <a:t>On-premises servers need SMB/NFS shares that store files in Amazon S3.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80360"/>
            <a:ext cx="5166360" cy="82296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880360"/>
            <a:ext cx="621792" cy="822960"/>
          </a:xfrm>
          <a:prstGeom prst="roundRect">
            <a:avLst/>
          </a:prstGeom>
          <a:solidFill>
            <a:srgbClr val="409BF5"/>
          </a:solidFill>
          <a:ln>
            <a:solidFill>
              <a:srgbClr val="40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081528"/>
            <a:ext cx="402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9FBFD"/>
                </a:solidFill>
                <a:latin typeface="Aptos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306324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D3B"/>
                </a:solidFill>
                <a:latin typeface="Aptos"/>
              </a:rPr>
              <a:t>Tape Gateway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880360"/>
            <a:ext cx="5166360" cy="82296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880360"/>
            <a:ext cx="621792" cy="822960"/>
          </a:xfrm>
          <a:prstGeom prst="roundRect">
            <a:avLst/>
          </a:prstGeom>
          <a:solidFill>
            <a:srgbClr val="42C17B"/>
          </a:solidFill>
          <a:ln>
            <a:solidFill>
              <a:srgbClr val="42C1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3081528"/>
            <a:ext cx="402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9FBFD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5472" y="306324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D3B"/>
                </a:solidFill>
                <a:latin typeface="Aptos"/>
              </a:rPr>
              <a:t>File Gateway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95928"/>
            <a:ext cx="5166360" cy="82296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995928"/>
            <a:ext cx="621792" cy="82296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197096"/>
            <a:ext cx="402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9FBFD"/>
                </a:solidFill>
                <a:latin typeface="Aptos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4178808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D3B"/>
                </a:solidFill>
                <a:latin typeface="Aptos"/>
              </a:rPr>
              <a:t>Instance store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995928"/>
            <a:ext cx="5166360" cy="82296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3995928"/>
            <a:ext cx="621792" cy="822960"/>
          </a:xfrm>
          <a:prstGeom prst="roundRect">
            <a:avLst/>
          </a:prstGeom>
          <a:solidFill>
            <a:srgbClr val="A16CF4"/>
          </a:solidFill>
          <a:ln>
            <a:solidFill>
              <a:srgbClr val="A16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4197096"/>
            <a:ext cx="402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9FBFD"/>
                </a:solidFill>
                <a:latin typeface="Aptos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4178808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D3B"/>
                </a:solidFill>
                <a:latin typeface="Aptos"/>
              </a:rPr>
              <a:t>Gateway Load Balancer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34924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87888"/>
                </a:solidFill>
                <a:latin typeface="Aptos"/>
              </a:rPr>
              <a:t>Answer is in the instructor guide.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WEEK 5 •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C1A2B"/>
                </a:solidFill>
                <a:latin typeface="Aptos"/>
              </a:rPr>
              <a:t>AWS Backup and Elastic Disaster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87888"/>
                </a:solidFill>
                <a:latin typeface="Aptos"/>
              </a:rPr>
              <a:t>Protect copies versus recover whole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7888"/>
                </a:solidFill>
                <a:latin typeface="Aptos"/>
              </a:rPr>
              <a:t>ThriveAfrica • AWS Cloud Practitioner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87888"/>
                </a:solidFill>
                <a:latin typeface="Aptos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074920" cy="320040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74519"/>
            <a:ext cx="82296" cy="320040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4663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1A2B"/>
                </a:solidFill>
                <a:latin typeface="Aptos"/>
              </a:rPr>
              <a:t>AWS Backup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4663440" cy="2450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87888"/>
                </a:solidFill>
                <a:latin typeface="Aptos"/>
              </a:rPr>
              <a:t>Central backup plans
Retention policies
Across supported services
Clue: manage backups in one 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74519"/>
            <a:ext cx="5074920" cy="320040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74519"/>
            <a:ext cx="82296" cy="3200400"/>
          </a:xfrm>
          <a:prstGeom prst="rect">
            <a:avLst/>
          </a:prstGeom>
          <a:solidFill>
            <a:srgbClr val="409BF5"/>
          </a:solidFill>
          <a:ln>
            <a:solidFill>
              <a:srgbClr val="40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057400"/>
            <a:ext cx="4663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1A2B"/>
                </a:solidFill>
                <a:latin typeface="Aptos"/>
              </a:rPr>
              <a:t>Elastic Disaster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514600"/>
            <a:ext cx="4663440" cy="2450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87888"/>
                </a:solidFill>
                <a:latin typeface="Aptos"/>
              </a:rPr>
              <a:t>Replicate servers
Fail over into AWS
Reduce downtime after disruption
Clue: recover systems fast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WEEK 5 •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C1A2B"/>
                </a:solidFill>
                <a:latin typeface="Aptos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87888"/>
                </a:solidFill>
                <a:latin typeface="Aptos"/>
              </a:rPr>
              <a:t>Vote, then explain your choice.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7888"/>
                </a:solidFill>
                <a:latin typeface="Aptos"/>
              </a:rPr>
              <a:t>ThriveAfrica • AWS Cloud Practitioner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87888"/>
                </a:solidFill>
                <a:latin typeface="Apto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69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C1A2B"/>
                </a:solidFill>
                <a:latin typeface="Aptos"/>
              </a:rPr>
              <a:t>A company wants one service to schedule and retain backups across EBS, EFS, and databases.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80360"/>
            <a:ext cx="5166360" cy="82296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880360"/>
            <a:ext cx="621792" cy="822960"/>
          </a:xfrm>
          <a:prstGeom prst="roundRect">
            <a:avLst/>
          </a:prstGeom>
          <a:solidFill>
            <a:srgbClr val="409BF5"/>
          </a:solidFill>
          <a:ln>
            <a:solidFill>
              <a:srgbClr val="40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081528"/>
            <a:ext cx="402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9FBFD"/>
                </a:solidFill>
                <a:latin typeface="Aptos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306324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D3B"/>
                </a:solidFill>
                <a:latin typeface="Aptos"/>
              </a:rPr>
              <a:t>Amazon CloudFront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880360"/>
            <a:ext cx="5166360" cy="82296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880360"/>
            <a:ext cx="621792" cy="822960"/>
          </a:xfrm>
          <a:prstGeom prst="roundRect">
            <a:avLst/>
          </a:prstGeom>
          <a:solidFill>
            <a:srgbClr val="42C17B"/>
          </a:solidFill>
          <a:ln>
            <a:solidFill>
              <a:srgbClr val="42C1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3081528"/>
            <a:ext cx="402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9FBFD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5472" y="306324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D3B"/>
                </a:solidFill>
                <a:latin typeface="Aptos"/>
              </a:rPr>
              <a:t>AWS Backup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95928"/>
            <a:ext cx="5166360" cy="82296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995928"/>
            <a:ext cx="621792" cy="82296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197096"/>
            <a:ext cx="402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9FBFD"/>
                </a:solidFill>
                <a:latin typeface="Aptos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4178808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D3B"/>
                </a:solidFill>
                <a:latin typeface="Aptos"/>
              </a:rPr>
              <a:t>Amazon Route 53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995928"/>
            <a:ext cx="5166360" cy="82296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3995928"/>
            <a:ext cx="621792" cy="822960"/>
          </a:xfrm>
          <a:prstGeom prst="roundRect">
            <a:avLst/>
          </a:prstGeom>
          <a:solidFill>
            <a:srgbClr val="A16CF4"/>
          </a:solidFill>
          <a:ln>
            <a:solidFill>
              <a:srgbClr val="A16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4197096"/>
            <a:ext cx="402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9FBFD"/>
                </a:solidFill>
                <a:latin typeface="Aptos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4178808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D3B"/>
                </a:solidFill>
                <a:latin typeface="Aptos"/>
              </a:rPr>
              <a:t>AWS WAF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34924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87888"/>
                </a:solidFill>
                <a:latin typeface="Aptos"/>
              </a:rPr>
              <a:t>Answer is in the instructor guide.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WEEK 5 •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C1A2B"/>
                </a:solidFill>
                <a:latin typeface="Aptos"/>
              </a:rPr>
              <a:t>Service selection sprint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87888"/>
                </a:solidFill>
                <a:latin typeface="Aptos"/>
              </a:rPr>
              <a:t>Call out the service before checking the answer key.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7888"/>
                </a:solidFill>
                <a:latin typeface="Aptos"/>
              </a:rPr>
              <a:t>ThriveAfrica • AWS Cloud Practitioner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87888"/>
                </a:solidFill>
                <a:latin typeface="Aptos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55648"/>
            <a:ext cx="6995160" cy="585216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92807"/>
            <a:ext cx="6492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C1A2B"/>
                </a:solidFill>
                <a:latin typeface="Aptos"/>
              </a:rPr>
              <a:t>Prevent accidental public S3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755648"/>
            <a:ext cx="3291840" cy="585216"/>
          </a:xfrm>
          <a:prstGeom prst="roundRect">
            <a:avLst/>
          </a:prstGeom>
          <a:solidFill>
            <a:srgbClr val="162C44"/>
          </a:solidFill>
          <a:ln>
            <a:solidFill>
              <a:srgbClr val="162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892807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9FBFD"/>
                </a:solidFill>
                <a:latin typeface="Aptos"/>
              </a:rPr>
              <a:t>Block Public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23744"/>
            <a:ext cx="6995160" cy="585216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660903"/>
            <a:ext cx="6492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C1A2B"/>
                </a:solidFill>
                <a:latin typeface="Aptos"/>
              </a:rPr>
              <a:t>Unknown object access pattern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523744"/>
            <a:ext cx="3291840" cy="585216"/>
          </a:xfrm>
          <a:prstGeom prst="roundRect">
            <a:avLst/>
          </a:prstGeom>
          <a:solidFill>
            <a:srgbClr val="162C44"/>
          </a:solidFill>
          <a:ln>
            <a:solidFill>
              <a:srgbClr val="162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2660903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9FBFD"/>
                </a:solidFill>
                <a:latin typeface="Aptos"/>
              </a:rPr>
              <a:t>Intelligent-Tiering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39"/>
            <a:ext cx="6995160" cy="585216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428999"/>
            <a:ext cx="6492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C1A2B"/>
                </a:solidFill>
                <a:latin typeface="Aptos"/>
              </a:rPr>
              <a:t>Shared Linux file system across AZs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3291839"/>
            <a:ext cx="3291840" cy="585216"/>
          </a:xfrm>
          <a:prstGeom prst="roundRect">
            <a:avLst/>
          </a:prstGeom>
          <a:solidFill>
            <a:srgbClr val="162C44"/>
          </a:solidFill>
          <a:ln>
            <a:solidFill>
              <a:srgbClr val="162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3428999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9FBFD"/>
                </a:solidFill>
                <a:latin typeface="Aptos"/>
              </a:rPr>
              <a:t>Amazon EFS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59935"/>
            <a:ext cx="6995160" cy="585216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197096"/>
            <a:ext cx="6492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C1A2B"/>
                </a:solidFill>
                <a:latin typeface="Aptos"/>
              </a:rPr>
              <a:t>Windows SMB + Active Directory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4059935"/>
            <a:ext cx="3291840" cy="585216"/>
          </a:xfrm>
          <a:prstGeom prst="roundRect">
            <a:avLst/>
          </a:prstGeom>
          <a:solidFill>
            <a:srgbClr val="162C44"/>
          </a:solidFill>
          <a:ln>
            <a:solidFill>
              <a:srgbClr val="162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4197096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9FBFD"/>
                </a:solidFill>
                <a:latin typeface="Aptos"/>
              </a:rPr>
              <a:t>FSx for Windows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28031"/>
            <a:ext cx="6995160" cy="585216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965192"/>
            <a:ext cx="6492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C1A2B"/>
                </a:solidFill>
                <a:latin typeface="Aptos"/>
              </a:rPr>
              <a:t>Replace physical tapes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4828031"/>
            <a:ext cx="3291840" cy="585216"/>
          </a:xfrm>
          <a:prstGeom prst="roundRect">
            <a:avLst/>
          </a:prstGeom>
          <a:solidFill>
            <a:srgbClr val="162C44"/>
          </a:solidFill>
          <a:ln>
            <a:solidFill>
              <a:srgbClr val="162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4965192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9FBFD"/>
                </a:solidFill>
                <a:latin typeface="Aptos"/>
              </a:rPr>
              <a:t>Tape Gateway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WEEK 5 •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C1A2B"/>
                </a:solidFill>
                <a:latin typeface="Aptos"/>
              </a:rPr>
              <a:t>Five exam traps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87888"/>
                </a:solidFill>
                <a:latin typeface="Aptos"/>
              </a:rPr>
              <a:t>Know what each option does—and does not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7888"/>
                </a:solidFill>
                <a:latin typeface="Aptos"/>
              </a:rPr>
              <a:t>ThriveAfrica • AWS Cloud Practitioner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87888"/>
                </a:solidFill>
                <a:latin typeface="Aptos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10515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C1A2B"/>
                </a:solidFill>
                <a:latin typeface="Aptos"/>
              </a:defRPr>
            </a:pPr>
            <a:r>
              <a:t>•  Durability is not the same as availability</a:t>
            </a:r>
          </a:p>
          <a:p>
            <a:pPr>
              <a:spcAft>
                <a:spcPts val="1400"/>
              </a:spcAft>
              <a:defRPr sz="2000">
                <a:solidFill>
                  <a:srgbClr val="0C1A2B"/>
                </a:solidFill>
                <a:latin typeface="Aptos"/>
              </a:defRPr>
            </a:pPr>
            <a:r>
              <a:t>•  One Zone-IA is single-AZ, not multi-AZ</a:t>
            </a:r>
          </a:p>
          <a:p>
            <a:pPr>
              <a:spcAft>
                <a:spcPts val="1400"/>
              </a:spcAft>
              <a:defRPr sz="2000">
                <a:solidFill>
                  <a:srgbClr val="0C1A2B"/>
                </a:solidFill>
                <a:latin typeface="Aptos"/>
              </a:defRPr>
            </a:pPr>
            <a:r>
              <a:t>•  Glacier Flexible / Deep Archive are not millisecond retrieval</a:t>
            </a:r>
          </a:p>
          <a:p>
            <a:pPr>
              <a:spcAft>
                <a:spcPts val="1400"/>
              </a:spcAft>
              <a:defRPr sz="2000">
                <a:solidFill>
                  <a:srgbClr val="0C1A2B"/>
                </a:solidFill>
                <a:latin typeface="Aptos"/>
              </a:defRPr>
            </a:pPr>
            <a:r>
              <a:t>•  EBS volumes do not span Availability Zones; use snapshots to rebuild</a:t>
            </a:r>
          </a:p>
          <a:p>
            <a:pPr>
              <a:spcAft>
                <a:spcPts val="1400"/>
              </a:spcAft>
              <a:defRPr sz="2000">
                <a:solidFill>
                  <a:srgbClr val="0C1A2B"/>
                </a:solidFill>
                <a:latin typeface="Aptos"/>
              </a:defRPr>
            </a:pPr>
            <a:r>
              <a:t>•  Instance store is temporary; EFS is not the Windows SMB answer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WEEK 5 •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C1A2B"/>
                </a:solidFill>
                <a:latin typeface="Aptos"/>
              </a:rPr>
              <a:t>Homework lab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87888"/>
                </a:solidFill>
                <a:latin typeface="Aptos"/>
              </a:rPr>
              <a:t>Version it, tier it, then take it down.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7888"/>
                </a:solidFill>
                <a:latin typeface="Aptos"/>
              </a:rPr>
              <a:t>ThriveAfrica • AWS Cloud Practitioner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87888"/>
                </a:solidFill>
                <a:latin typeface="Aptos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394960" cy="100584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640080" cy="100584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756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9FBFD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75688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C1A2B"/>
                </a:solidFill>
                <a:latin typeface="Aptos"/>
              </a:rPr>
              <a:t>Create bucket + confirm Block Public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783080"/>
            <a:ext cx="5394960" cy="100584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783080"/>
            <a:ext cx="640080" cy="1005840"/>
          </a:xfrm>
          <a:prstGeom prst="roundRect">
            <a:avLst/>
          </a:prstGeom>
          <a:solidFill>
            <a:srgbClr val="409BF5"/>
          </a:solidFill>
          <a:ln>
            <a:solidFill>
              <a:srgbClr val="40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0756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9FBFD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075688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C1A2B"/>
                </a:solidFill>
                <a:latin typeface="Aptos"/>
              </a:rPr>
              <a:t>Enable versioning; overwrite and restore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17520"/>
            <a:ext cx="5394960" cy="100584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017520"/>
            <a:ext cx="640080" cy="100584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310127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9FBFD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310127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C1A2B"/>
                </a:solidFill>
                <a:latin typeface="Aptos"/>
              </a:rPr>
              <a:t>Lifecycle: IA 30 → Glacier 90 → expire 365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017520"/>
            <a:ext cx="5394960" cy="100584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55080" y="3017520"/>
            <a:ext cx="640080" cy="1005840"/>
          </a:xfrm>
          <a:prstGeom prst="roundRect">
            <a:avLst/>
          </a:prstGeom>
          <a:solidFill>
            <a:srgbClr val="409BF5"/>
          </a:solidFill>
          <a:ln>
            <a:solidFill>
              <a:srgbClr val="40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310127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9FBFD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310127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C1A2B"/>
                </a:solidFill>
                <a:latin typeface="Aptos"/>
              </a:rPr>
              <a:t>Change one object storage class manually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251960"/>
            <a:ext cx="5394960" cy="100584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4251960"/>
            <a:ext cx="640080" cy="100584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54456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9FBFD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544568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C1A2B"/>
                </a:solidFill>
                <a:latin typeface="Aptos"/>
              </a:rPr>
              <a:t>EBS volume → snapshot → rebuild in another AZ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4251960"/>
            <a:ext cx="5394960" cy="1005840"/>
          </a:xfrm>
          <a:prstGeom prst="roundRect">
            <a:avLst/>
          </a:prstGeom>
          <a:solidFill>
            <a:srgbClr val="F9FBFD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55080" y="4251960"/>
            <a:ext cx="640080" cy="1005840"/>
          </a:xfrm>
          <a:prstGeom prst="roundRect">
            <a:avLst/>
          </a:prstGeom>
          <a:solidFill>
            <a:srgbClr val="409BF5"/>
          </a:solidFill>
          <a:ln>
            <a:solidFill>
              <a:srgbClr val="40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54456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9FBFD"/>
                </a:solidFill>
                <a:latin typeface="Aptos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4544568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C1A2B"/>
                </a:solidFill>
                <a:latin typeface="Aptos"/>
              </a:rPr>
              <a:t>Delete objects, bucket, volumes, and snapshot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WEEK 5 •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040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C1A2B"/>
                </a:solidFill>
                <a:latin typeface="Aptos"/>
              </a:rPr>
              <a:t>Cost and teardown warning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87888"/>
                </a:solidFill>
                <a:latin typeface="Aptos"/>
              </a:rPr>
              <a:t>Small labs still create billable leftovers.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87888"/>
                </a:solidFill>
                <a:latin typeface="Aptos"/>
              </a:rPr>
              <a:t>ThriveAfrica • AWS Cloud Practitioner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87888"/>
                </a:solidFill>
                <a:latin typeface="Aptos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D3B"/>
                </a:solidFill>
                <a:latin typeface="Aptos"/>
              </a:defRPr>
            </a:pPr>
            <a:r>
              <a:t>•  Empty all object versions before deleting a bucket</a:t>
            </a:r>
          </a:p>
          <a:p>
            <a:pPr>
              <a:spcAft>
                <a:spcPts val="900"/>
              </a:spcAft>
              <a:defRPr sz="2000">
                <a:solidFill>
                  <a:srgbClr val="1F2D3B"/>
                </a:solidFill>
                <a:latin typeface="Aptos"/>
              </a:defRPr>
            </a:pPr>
            <a:r>
              <a:t>•  Delete EBS volumes and snapshots after the rebuild test</a:t>
            </a:r>
          </a:p>
          <a:p>
            <a:pPr>
              <a:spcAft>
                <a:spcPts val="900"/>
              </a:spcAft>
              <a:defRPr sz="2000">
                <a:solidFill>
                  <a:srgbClr val="1F2D3B"/>
                </a:solidFill>
                <a:latin typeface="Aptos"/>
              </a:defRPr>
            </a:pPr>
            <a:r>
              <a:t>•  IA and Glacier classes can have minimum-duration charges</a:t>
            </a:r>
          </a:p>
          <a:p>
            <a:pPr>
              <a:spcAft>
                <a:spcPts val="900"/>
              </a:spcAft>
              <a:defRPr sz="2000">
                <a:solidFill>
                  <a:srgbClr val="1F2D3B"/>
                </a:solidFill>
                <a:latin typeface="Aptos"/>
              </a:defRPr>
            </a:pPr>
            <a:r>
              <a:t>•  Confirm budget alerts from earlier weeks are still active</a:t>
            </a:r>
          </a:p>
          <a:p>
            <a:pPr>
              <a:spcAft>
                <a:spcPts val="900"/>
              </a:spcAft>
              <a:defRPr sz="2000">
                <a:solidFill>
                  <a:srgbClr val="1F2D3B"/>
                </a:solidFill>
                <a:latin typeface="Aptos"/>
              </a:defRPr>
            </a:pPr>
            <a:r>
              <a:t>•  Verify the console shows no unexpected lab resources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9900"/>
                </a:solidFill>
                <a:latin typeface="Aptos"/>
              </a:rPr>
              <a:t>WEEK 5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70432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9FBFD"/>
                </a:solidFill>
                <a:latin typeface="Aptos"/>
              </a:rPr>
              <a:t>Choose storage from the constraint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10515600" cy="603504"/>
          </a:xfrm>
          <a:prstGeom prst="roundRect">
            <a:avLst/>
          </a:prstGeom>
          <a:solidFill>
            <a:srgbClr val="162C44"/>
          </a:solidFill>
          <a:ln>
            <a:solidFill>
              <a:srgbClr val="162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9900"/>
                </a:solidFill>
                <a:latin typeface="Aptos"/>
              </a:rPr>
              <a:t>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28600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9FBFD"/>
                </a:solidFill>
                <a:latin typeface="Aptos"/>
              </a:rPr>
              <a:t>Block disk • shared file • object bucket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44368"/>
            <a:ext cx="10515600" cy="603504"/>
          </a:xfrm>
          <a:prstGeom prst="roundRect">
            <a:avLst/>
          </a:prstGeom>
          <a:solidFill>
            <a:srgbClr val="162C44"/>
          </a:solidFill>
          <a:ln>
            <a:solidFill>
              <a:srgbClr val="162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08152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9900"/>
                </a:solidFill>
                <a:latin typeface="Aptos"/>
              </a:rPr>
              <a:t>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081528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9FBFD"/>
                </a:solidFill>
                <a:latin typeface="Aptos"/>
              </a:rPr>
              <a:t>Classes, lifecycle, versioning, BPA, Object Lock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9896"/>
            <a:ext cx="10515600" cy="603504"/>
          </a:xfrm>
          <a:prstGeom prst="roundRect">
            <a:avLst/>
          </a:prstGeom>
          <a:solidFill>
            <a:srgbClr val="162C44"/>
          </a:solidFill>
          <a:ln>
            <a:solidFill>
              <a:srgbClr val="162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877056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9900"/>
                </a:solidFill>
                <a:latin typeface="Aptos"/>
              </a:rPr>
              <a:t>BLOCK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877056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9FBFD"/>
                </a:solidFill>
                <a:latin typeface="Aptos"/>
              </a:rPr>
              <a:t>EBS persists; snapshots move AZs; instance store is temporary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535424"/>
            <a:ext cx="10515600" cy="603504"/>
          </a:xfrm>
          <a:prstGeom prst="roundRect">
            <a:avLst/>
          </a:prstGeom>
          <a:solidFill>
            <a:srgbClr val="162C44"/>
          </a:solidFill>
          <a:ln>
            <a:solidFill>
              <a:srgbClr val="162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72584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9900"/>
                </a:solidFill>
                <a:latin typeface="Aptos"/>
              </a:rPr>
              <a:t>HYBRID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672584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9FBFD"/>
                </a:solidFill>
                <a:latin typeface="Aptos"/>
              </a:rPr>
              <a:t>EFS/FSx, Storage Gateway, Backup, Elastic Disaster Recovery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BFCCD9"/>
                </a:solidFill>
                <a:latin typeface="Aptos"/>
              </a:rPr>
              <a:t>Complete the Week 5 knowledge check (14/20) and lab teardown.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